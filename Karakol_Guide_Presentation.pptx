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han Baydolotov" userId="79f519b1d0684426" providerId="LiveId" clId="{2EAD730B-150A-4C27-9AB5-7AABE0345A1F}"/>
    <pc:docChg chg="undo custSel modSld">
      <pc:chgData name="Adahan Baydolotov" userId="79f519b1d0684426" providerId="LiveId" clId="{2EAD730B-150A-4C27-9AB5-7AABE0345A1F}" dt="2026-06-07T18:57:19.275" v="113" actId="20577"/>
      <pc:docMkLst>
        <pc:docMk/>
      </pc:docMkLst>
      <pc:sldChg chg="modSp mod">
        <pc:chgData name="Adahan Baydolotov" userId="79f519b1d0684426" providerId="LiveId" clId="{2EAD730B-150A-4C27-9AB5-7AABE0345A1F}" dt="2026-06-07T18:55:50.083" v="88" actId="20577"/>
        <pc:sldMkLst>
          <pc:docMk/>
          <pc:sldMk cId="0" sldId="257"/>
        </pc:sldMkLst>
        <pc:spChg chg="mod">
          <ac:chgData name="Adahan Baydolotov" userId="79f519b1d0684426" providerId="LiveId" clId="{2EAD730B-150A-4C27-9AB5-7AABE0345A1F}" dt="2026-06-07T18:55:50.083" v="88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Adahan Baydolotov" userId="79f519b1d0684426" providerId="LiveId" clId="{2EAD730B-150A-4C27-9AB5-7AABE0345A1F}" dt="2026-06-07T18:57:19.275" v="113" actId="20577"/>
        <pc:sldMkLst>
          <pc:docMk/>
          <pc:sldMk cId="0" sldId="260"/>
        </pc:sldMkLst>
        <pc:spChg chg="mod">
          <ac:chgData name="Adahan Baydolotov" userId="79f519b1d0684426" providerId="LiveId" clId="{2EAD730B-150A-4C27-9AB5-7AABE0345A1F}" dt="2026-06-07T18:57:19.275" v="113" actId="20577"/>
          <ac:spMkLst>
            <pc:docMk/>
            <pc:sldMk cId="0" sldId="260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Georgia"/>
              </a:defRPr>
            </a:pPr>
            <a:r>
              <a:rPr dirty="0"/>
              <a:t>РАЗРАБОТКА ИНТЕРАКТИВНОГО ТУРИСТИЧЕСКОГО ГИДА</a:t>
            </a:r>
          </a:p>
          <a:p>
            <a:pPr>
              <a:spcBef>
                <a:spcPts val="1000"/>
              </a:spcBef>
              <a:defRPr sz="4400" b="1">
                <a:solidFill>
                  <a:srgbClr val="FBBF24"/>
                </a:solidFill>
                <a:latin typeface="Georgia"/>
              </a:defRPr>
            </a:pPr>
            <a:r>
              <a:rPr dirty="0"/>
              <a:t>«KARAKOL GUIDE»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i="1">
                <a:solidFill>
                  <a:srgbClr val="38BDF8"/>
                </a:solidFill>
                <a:latin typeface="Arial"/>
              </a:defRPr>
            </a:pPr>
            <a:r>
              <a:rPr dirty="0" err="1"/>
              <a:t>Выпускная</a:t>
            </a:r>
            <a:r>
              <a:rPr dirty="0"/>
              <a:t> </a:t>
            </a:r>
            <a:r>
              <a:rPr dirty="0" err="1"/>
              <a:t>квалификационная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(</a:t>
            </a:r>
            <a:r>
              <a:rPr dirty="0" err="1"/>
              <a:t>Дипломный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365760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5486400" cy="1259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dirty="0" err="1"/>
              <a:t>Выполнил</a:t>
            </a:r>
            <a:r>
              <a:rPr dirty="0"/>
              <a:t>:</a:t>
            </a:r>
          </a:p>
          <a:p>
            <a:pPr>
              <a:spcAft>
                <a:spcPts val="1500"/>
              </a:spcAft>
              <a:defRPr sz="1400" b="1">
                <a:solidFill>
                  <a:srgbClr val="F1F5F9"/>
                </a:solidFill>
                <a:latin typeface="Arial"/>
              </a:defRPr>
            </a:pPr>
            <a:r>
              <a:rPr dirty="0" err="1"/>
              <a:t>Студент</a:t>
            </a:r>
            <a:r>
              <a:rPr dirty="0"/>
              <a:t> </a:t>
            </a:r>
            <a:r>
              <a:rPr dirty="0" err="1"/>
              <a:t>групп</a:t>
            </a:r>
            <a:r>
              <a:rPr lang="ru-RU" dirty="0"/>
              <a:t>ы</a:t>
            </a:r>
            <a:r>
              <a:rPr dirty="0"/>
              <a:t> [</a:t>
            </a:r>
            <a:r>
              <a:rPr lang="en-US" dirty="0"/>
              <a:t>37-</a:t>
            </a:r>
            <a:r>
              <a:rPr lang="ru-RU" dirty="0"/>
              <a:t>ПКС</a:t>
            </a:r>
            <a:r>
              <a:rPr dirty="0"/>
              <a:t>]</a:t>
            </a:r>
            <a:br>
              <a:rPr dirty="0"/>
            </a:br>
            <a:r>
              <a:rPr dirty="0"/>
              <a:t>[</a:t>
            </a:r>
            <a:r>
              <a:rPr lang="ru-RU" dirty="0" err="1"/>
              <a:t>Байдолотов</a:t>
            </a:r>
            <a:r>
              <a:rPr lang="ru-RU" dirty="0"/>
              <a:t> Адахан</a:t>
            </a:r>
            <a:r>
              <a:rPr dirty="0"/>
              <a:t>]</a:t>
            </a:r>
          </a:p>
          <a:p>
            <a:pPr>
              <a:spcAft>
                <a:spcPts val="200"/>
              </a:spcAft>
              <a:defRPr sz="1200">
                <a:solidFill>
                  <a:srgbClr val="94A3B8"/>
                </a:solidFill>
                <a:latin typeface="Arial"/>
              </a:defRPr>
            </a:pPr>
            <a:r>
              <a:rPr dirty="0" err="1"/>
              <a:t>Научный</a:t>
            </a:r>
            <a:r>
              <a:rPr dirty="0"/>
              <a:t> </a:t>
            </a:r>
            <a:r>
              <a:rPr dirty="0" err="1"/>
              <a:t>руководитель</a:t>
            </a:r>
            <a:r>
              <a:rPr dirty="0"/>
              <a:t>:</a:t>
            </a:r>
          </a:p>
          <a:p>
            <a:pPr>
              <a:defRPr sz="1400" b="1">
                <a:solidFill>
                  <a:srgbClr val="F1F5F9"/>
                </a:solidFill>
                <a:latin typeface="Arial"/>
              </a:defRPr>
            </a:pPr>
            <a:r>
              <a:rPr dirty="0"/>
              <a:t>[</a:t>
            </a:r>
            <a:r>
              <a:rPr dirty="0" err="1"/>
              <a:t>Ученая</a:t>
            </a:r>
            <a:r>
              <a:rPr dirty="0"/>
              <a:t> </a:t>
            </a:r>
            <a:r>
              <a:rPr dirty="0" err="1"/>
              <a:t>степень</a:t>
            </a:r>
            <a:r>
              <a:rPr dirty="0"/>
              <a:t>, ФИО </a:t>
            </a:r>
            <a:r>
              <a:rPr dirty="0" err="1"/>
              <a:t>Руководителя</a:t>
            </a:r>
            <a:r>
              <a:rPr dirty="0"/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852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94A3B8"/>
                </a:solidFill>
                <a:latin typeface="Georgia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Georgia"/>
              </a:defRPr>
            </a:pPr>
            <a:r>
              <a:rPr dirty="0"/>
              <a:t> </a:t>
            </a:r>
            <a:r>
              <a:rPr dirty="0" err="1"/>
              <a:t>Актуальность</a:t>
            </a:r>
            <a:r>
              <a:rPr dirty="0"/>
              <a:t> </a:t>
            </a:r>
            <a:r>
              <a:rPr dirty="0" err="1"/>
              <a:t>темы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Дипломный проект  |  Разработка гида Karakol Guide  |  Слайд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3847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dirty="0" err="1">
                <a:solidFill>
                  <a:srgbClr val="FBBF24"/>
                </a:solidFill>
                <a:latin typeface="Arial"/>
              </a:rPr>
              <a:t>Развитие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цифровой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экономики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Интернет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стал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главным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инструментом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для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коммуникации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обучения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планирования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путешествий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00" b="1" dirty="0" err="1">
                <a:solidFill>
                  <a:srgbClr val="FBBF24"/>
                </a:solidFill>
                <a:latin typeface="Arial"/>
              </a:rPr>
              <a:t>Туристический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потенциал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Кыргызстана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Город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Каракол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—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ключевая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дестинация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Иссык-Кульской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области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с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живописными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горами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озером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Ала-Куль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памятниками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культуры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00" b="1" dirty="0" err="1">
                <a:solidFill>
                  <a:srgbClr val="FBBF24"/>
                </a:solidFill>
                <a:latin typeface="Arial"/>
              </a:rPr>
              <a:t>Разнообразие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видов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отдыха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Рост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спроса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на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треккинг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конные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туры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гастрономические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исторические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экскурсии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требует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единой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платформы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00" b="1" dirty="0" err="1">
                <a:solidFill>
                  <a:srgbClr val="FBBF24"/>
                </a:solidFill>
                <a:latin typeface="Arial"/>
              </a:rPr>
              <a:t>Проблема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планирования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Отсутствие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локальных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качественных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веб-сервисов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с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интерактивными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картами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делает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самостоятельное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планирование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сложным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00" b="1" dirty="0" err="1">
                <a:solidFill>
                  <a:srgbClr val="FBBF24"/>
                </a:solidFill>
                <a:latin typeface="Arial"/>
              </a:rPr>
              <a:t>Цель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Karakol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Guide: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Создание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современного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веб-сервиса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объединяющего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маршруты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фильтры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сложности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детальную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интерактивную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карту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</a:t>
            </a:r>
            <a:r>
              <a:rPr lang="ru-RU" sz="1400" b="0" dirty="0">
                <a:solidFill>
                  <a:srgbClr val="F1F5F9"/>
                </a:solidFill>
                <a:latin typeface="Arial"/>
              </a:rPr>
              <a:t> Чтобы помочь туристам города Каракол.</a:t>
            </a:r>
            <a:endParaRPr sz="1400" b="0" dirty="0">
              <a:solidFill>
                <a:srgbClr val="F1F5F9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4846320" cy="411480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ounta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45720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Georgia"/>
              </a:defRPr>
            </a:pPr>
            <a:r>
              <a:rPr dirty="0"/>
              <a:t>Сравнительный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аналогов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Дипломный проект  |  Разработка гида Karakol Guide  |  Слайд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2246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dirty="0">
                <a:solidFill>
                  <a:srgbClr val="FBBF24"/>
                </a:solidFill>
                <a:latin typeface="Arial"/>
              </a:rPr>
              <a:t>Kettik.kg: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Крупный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портал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о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туризме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в КР.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Достоинство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много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отзывов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контента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Недостаток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сложный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интерфейс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разрозненные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данные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нет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фильтров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маршрутов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FBBF24"/>
                </a:solidFill>
                <a:latin typeface="Arial"/>
              </a:rPr>
              <a:t>Visit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Kara</a:t>
            </a:r>
            <a:r>
              <a:rPr lang="en-US" sz="1400" b="1" dirty="0" err="1">
                <a:solidFill>
                  <a:srgbClr val="FBBF24"/>
                </a:solidFill>
                <a:latin typeface="Arial"/>
              </a:rPr>
              <a:t>k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ol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Локальный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сайт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Достоинство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простая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структура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Недостаток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ограниченный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объем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информации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отсутствие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интерактивной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карты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FBBF24"/>
                </a:solidFill>
                <a:latin typeface="Arial"/>
              </a:rPr>
              <a:t>Kyrgyzstan Travel: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Сайт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туроператора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Достоинство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профессиональные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фото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Недостаток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ориентирован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только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на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организованные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группы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;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высокая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цена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</a:t>
            </a:r>
          </a:p>
        </p:txBody>
      </p:sp>
      <p:pic>
        <p:nvPicPr>
          <p:cNvPr id="7" name="Picture 6" descr="competitor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Georgia"/>
              </a:defRPr>
            </a:pPr>
            <a:r>
              <a:rPr dirty="0"/>
              <a:t> </a:t>
            </a:r>
            <a:r>
              <a:rPr dirty="0" err="1"/>
              <a:t>Объект</a:t>
            </a:r>
            <a:r>
              <a:rPr dirty="0"/>
              <a:t> и </a:t>
            </a:r>
            <a:r>
              <a:rPr dirty="0" err="1"/>
              <a:t>субъекты</a:t>
            </a:r>
            <a:r>
              <a:rPr dirty="0"/>
              <a:t> </a:t>
            </a:r>
            <a:r>
              <a:rPr dirty="0" err="1"/>
              <a:t>исследования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Дипломный проект  |  Разработка гида Karakol Guide  |  Слайд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Объект исследования:</a:t>
            </a:r>
            <a:r>
              <a:rPr sz="1400" b="0">
                <a:solidFill>
                  <a:srgbClr val="F1F5F9"/>
                </a:solidFill>
                <a:latin typeface="Arial"/>
              </a:rPr>
              <a:t> Процесс организации туристической информации о городе Каракол и окрестностях с использованием веб-технологий.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Пользователи (Туристы):</a:t>
            </a:r>
            <a:r>
              <a:rPr sz="1400" b="0">
                <a:solidFill>
                  <a:srgbClr val="F1F5F9"/>
                </a:solidFill>
                <a:latin typeface="Arial"/>
              </a:rPr>
              <a:t> Ключевые субъекты. Нуждаются в быстром поиске маршрутов, фильтрации и работе с интерактивной картой.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Администратор сайта:</a:t>
            </a:r>
            <a:r>
              <a:rPr sz="1400" b="0">
                <a:solidFill>
                  <a:srgbClr val="F1F5F9"/>
                </a:solidFill>
                <a:latin typeface="Arial"/>
              </a:rPr>
              <a:t> Лицо, отвечающее за модерацию контента, обновление маршрутов и проверку актуальности данных.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Дополнительные субъекты:</a:t>
            </a:r>
            <a:r>
              <a:rPr sz="1400" b="0">
                <a:solidFill>
                  <a:srgbClr val="F1F5F9"/>
                </a:solidFill>
                <a:latin typeface="Arial"/>
              </a:rPr>
              <a:t> Разработчик (поддержка) и Местные гиды/партнеры (экспертиза, предложение услуг).</a:t>
            </a:r>
          </a:p>
        </p:txBody>
      </p:sp>
      <p:pic>
        <p:nvPicPr>
          <p:cNvPr id="7" name="Picture 6" descr="subject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Georgia"/>
              </a:defRPr>
            </a:pPr>
            <a:r>
              <a:rPr dirty="0"/>
              <a:t> </a:t>
            </a:r>
            <a:r>
              <a:rPr dirty="0" err="1"/>
              <a:t>Техническое</a:t>
            </a:r>
            <a:r>
              <a:rPr dirty="0"/>
              <a:t> </a:t>
            </a:r>
            <a:r>
              <a:rPr dirty="0" err="1"/>
              <a:t>задание</a:t>
            </a:r>
            <a:r>
              <a:rPr dirty="0"/>
              <a:t>: </a:t>
            </a:r>
            <a:r>
              <a:rPr dirty="0" err="1"/>
              <a:t>Требования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Дипломный проект  |  Разработка гида Karakol Guide  |  Слайд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26161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dirty="0" err="1">
                <a:solidFill>
                  <a:srgbClr val="FBBF24"/>
                </a:solidFill>
                <a:latin typeface="Arial"/>
              </a:rPr>
              <a:t>Каталог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маршрутов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Распределение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активностям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(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треккинг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конные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туры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культура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кулинария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) с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сортировкой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по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сложности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длительности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00" b="1" dirty="0" err="1">
                <a:solidFill>
                  <a:srgbClr val="FBBF24"/>
                </a:solidFill>
                <a:latin typeface="Arial"/>
              </a:rPr>
              <a:t>Природный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дизайн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Современный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UI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на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базе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природных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оттенков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Кыргызстана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(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синий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—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Иссык-Куль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lang="ru-RU" sz="1400" dirty="0">
                <a:solidFill>
                  <a:srgbClr val="F1F5F9"/>
                </a:solidFill>
                <a:latin typeface="Arial"/>
              </a:rPr>
              <a:t>желтый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— </a:t>
            </a:r>
            <a:r>
              <a:rPr lang="ru-RU" sz="1400" dirty="0">
                <a:solidFill>
                  <a:srgbClr val="F1F5F9"/>
                </a:solidFill>
                <a:latin typeface="Arial"/>
              </a:rPr>
              <a:t>солнце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белый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—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ледники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).</a:t>
            </a:r>
          </a:p>
          <a:p>
            <a:pPr>
              <a:spcAft>
                <a:spcPts val="1200"/>
              </a:spcAft>
            </a:pPr>
            <a:r>
              <a:rPr sz="1400" b="1" dirty="0" err="1">
                <a:solidFill>
                  <a:srgbClr val="FBBF24"/>
                </a:solidFill>
                <a:latin typeface="Arial"/>
              </a:rPr>
              <a:t>Адаптивность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BBF24"/>
                </a:solidFill>
                <a:latin typeface="Arial"/>
              </a:rPr>
              <a:t>интерфейса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Корректное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отображение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на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компьютерах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планшетах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смартфонах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(Mobile-first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подход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).</a:t>
            </a:r>
          </a:p>
          <a:p>
            <a:pPr>
              <a:spcAft>
                <a:spcPts val="1200"/>
              </a:spcAft>
            </a:pPr>
            <a:r>
              <a:rPr sz="1400" b="1" dirty="0" err="1">
                <a:solidFill>
                  <a:srgbClr val="FBBF24"/>
                </a:solidFill>
                <a:latin typeface="Arial"/>
              </a:rPr>
              <a:t>Навигация</a:t>
            </a:r>
            <a:r>
              <a:rPr sz="1400" b="1" dirty="0">
                <a:solidFill>
                  <a:srgbClr val="FBBF24"/>
                </a:solidFill>
                <a:latin typeface="Arial"/>
              </a:rPr>
              <a:t>: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Удобная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поисковая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строка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система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категорий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хлебные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крошки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быстрая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1F5F9"/>
                </a:solidFill>
                <a:latin typeface="Arial"/>
              </a:rPr>
              <a:t>фильтрация</a:t>
            </a:r>
            <a:r>
              <a:rPr sz="1400" b="0" dirty="0">
                <a:solidFill>
                  <a:srgbClr val="F1F5F9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11480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48463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Georgia"/>
              </a:defRPr>
            </a:pPr>
            <a:r>
              <a:t>Интерактивная карта достопримечательностей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Дипломный проект  |  Разработка гида Karakol Guide  |  Слайд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Ключевые точки:</a:t>
            </a:r>
            <a:r>
              <a:rPr sz="1400" b="0">
                <a:solidFill>
                  <a:srgbClr val="F1F5F9"/>
                </a:solidFill>
                <a:latin typeface="Arial"/>
              </a:rPr>
              <a:t> Отображение озера Ала-Куль, Жети-Огуз, Алтын-Арашан, Дунганской мечети, Троицкого собора и др.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Интерактивность:</a:t>
            </a:r>
            <a:r>
              <a:rPr sz="1400" b="0">
                <a:solidFill>
                  <a:srgbClr val="F1F5F9"/>
                </a:solidFill>
                <a:latin typeface="Arial"/>
              </a:rPr>
              <a:t> Просмотр краткой информации при клике на маркер, прокладка нити маршрута.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Инструменты (Leaflet API):</a:t>
            </a:r>
            <a:r>
              <a:rPr sz="1400" b="0">
                <a:solidFill>
                  <a:srgbClr val="F1F5F9"/>
                </a:solidFill>
                <a:latin typeface="Arial"/>
              </a:rPr>
              <a:t> Плавное масштабирование и перемещение карты для детального изучения.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Оптимизация:</a:t>
            </a:r>
            <a:r>
              <a:rPr sz="1400" b="0">
                <a:solidFill>
                  <a:srgbClr val="F1F5F9"/>
                </a:solidFill>
                <a:latin typeface="Arial"/>
              </a:rPr>
              <a:t> Динамическая подгрузка маркеров и плавная подгрузка тайловых карт OpenStreetMap.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11480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48463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Georgia"/>
              </a:defRPr>
            </a:pPr>
            <a:r>
              <a:t>Технологический стек разработки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Дипломный проект  |  Разработка гида Karakol Guide  |  Слайд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377440" cy="438912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BBF24"/>
                </a:solidFill>
                <a:latin typeface="Georgia"/>
              </a:defRPr>
            </a:pPr>
            <a:r>
              <a:t>Фронтенд ядро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HTML5 / CSS3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JavaScript (ES6+)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React.js Component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React Router SPA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377440" cy="438912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BBF24"/>
                </a:solidFill>
                <a:latin typeface="Georgia"/>
              </a:defRPr>
            </a:pPr>
            <a:r>
              <a:t>Стилизация и UI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Tailwind CSS v4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CSS Variables &amp; Themes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Playfair Display / Plus Jakarta Sans fonts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Fluid Grid Layouts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377440" cy="438912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BBF24"/>
                </a:solidFill>
                <a:latin typeface="Georgia"/>
              </a:defRPr>
            </a:pPr>
            <a:r>
              <a:t>Интерактивная карта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Leaflet.js Library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React-Leaflet wrapper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OpenStreetMap tiles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Custom Marker Popups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Geopositioning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63040"/>
            <a:ext cx="2377440" cy="438912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BBF24"/>
                </a:solidFill>
                <a:latin typeface="Georgia"/>
              </a:defRPr>
            </a:pPr>
            <a:r>
              <a:t>Бэкенд и сервисы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Supabase Cloud DB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PostgreSQL database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REST API Integration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Admin Dashboard panel</a:t>
            </a:r>
          </a:p>
          <a:p>
            <a:pPr>
              <a:spcAft>
                <a:spcPts val="800"/>
              </a:spcAft>
              <a:defRPr sz="1200">
                <a:solidFill>
                  <a:srgbClr val="F1F5F9"/>
                </a:solidFill>
                <a:latin typeface="Arial"/>
              </a:defRPr>
            </a:pPr>
            <a:r>
              <a:t>• Contact Form Handlers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Georgia"/>
              </a:defRPr>
            </a:pPr>
            <a:r>
              <a:t>Сложности при разработке и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Дипломный проект  |  Разработка гида Karakol Guide  |  Слайд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38912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BBF24"/>
                </a:solidFill>
                <a:latin typeface="Georgia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Интеграция Leaflet в React SPA</a:t>
            </a:r>
          </a:p>
          <a:p>
            <a:pPr>
              <a:spcAft>
                <a:spcPts val="200"/>
              </a:spcAft>
              <a:defRPr sz="1200" b="1">
                <a:solidFill>
                  <a:srgbClr val="EF4444"/>
                </a:solidFill>
                <a:latin typeface="Arial"/>
              </a:defRPr>
            </a:pPr>
            <a:r>
              <a:t>Проблема:</a:t>
            </a:r>
          </a:p>
          <a:p>
            <a:pPr>
              <a:spcAft>
                <a:spcPts val="12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Конфликт жизненных циклов Leaflet (работа с реальным DOM) и React (Virtual DOM), вызывающий утечки памяти и сбои маркеров.</a:t>
            </a: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Решение:</a:t>
            </a:r>
          </a:p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Инициализация карты через useRef и useEffect с вызовом map.remove() при размонтировании. Мемоизация координат и маркеров.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38912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BBF24"/>
                </a:solidFill>
                <a:latin typeface="Georgia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Оптимизация веса изображений</a:t>
            </a:r>
          </a:p>
          <a:p>
            <a:pPr>
              <a:spcAft>
                <a:spcPts val="200"/>
              </a:spcAft>
              <a:defRPr sz="1200" b="1">
                <a:solidFill>
                  <a:srgbClr val="EF4444"/>
                </a:solidFill>
                <a:latin typeface="Arial"/>
              </a:defRPr>
            </a:pPr>
            <a:r>
              <a:t>Проблема:</a:t>
            </a:r>
          </a:p>
          <a:p>
            <a:pPr>
              <a:spcAft>
                <a:spcPts val="12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Качественные фотографии весили до 3-5 МБ, замедляя первую загрузку (LCP &gt; 4.5с) на мобильных устройствах.</a:t>
            </a: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Решение:</a:t>
            </a:r>
          </a:p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Конвертация в WebP с сжатием без видимых потерь, lazy loading картинок вне экрана и использование адаптивных размеров srcset.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38912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BBF24"/>
                </a:solidFill>
                <a:latin typeface="Georgia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Адаптивные фильтры и тач-интерфейс</a:t>
            </a:r>
          </a:p>
          <a:p>
            <a:pPr>
              <a:spcAft>
                <a:spcPts val="200"/>
              </a:spcAft>
              <a:defRPr sz="1200" b="1">
                <a:solidFill>
                  <a:srgbClr val="EF4444"/>
                </a:solidFill>
                <a:latin typeface="Arial"/>
              </a:defRPr>
            </a:pPr>
            <a:r>
              <a:t>Проблема:</a:t>
            </a:r>
          </a:p>
          <a:p>
            <a:pPr>
              <a:spcAft>
                <a:spcPts val="1200"/>
              </a:spcAft>
              <a:defRPr sz="1100">
                <a:solidFill>
                  <a:srgbClr val="F1F5F9"/>
                </a:solidFill>
                <a:latin typeface="Arial"/>
              </a:defRPr>
            </a:pPr>
            <a:r>
              <a:t>Карта перекрывала жесты прокрутки страницы на смартфонах; фильтры были перегружены элементами управления.</a:t>
            </a: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Решение:</a:t>
            </a:r>
          </a:p>
          <a:p>
            <a:pPr>
              <a:defRPr sz="1100">
                <a:solidFill>
                  <a:srgbClr val="F1F5F9"/>
                </a:solidFill>
                <a:latin typeface="Arial"/>
              </a:defRPr>
            </a:pPr>
            <a:r>
              <a:t>Разработка всплывающей (drawer) панели фильтров, оптимизированной под тач-жесты, и блокировка прокрутки карты при открытом меню.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Georgia"/>
              </a:defRPr>
            </a:pPr>
            <a:r>
              <a:t>Тестирование и верификация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Дипломный проект  |  Разработка гида Karakol Guide  |  Слайд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Функциональное тестирование:</a:t>
            </a:r>
            <a:r>
              <a:rPr sz="1400" b="0">
                <a:solidFill>
                  <a:srgbClr val="F1F5F9"/>
                </a:solidFill>
                <a:latin typeface="Arial"/>
              </a:rPr>
              <a:t> Ручное тестирование всех фильтров, сортировок каталога и корректной загрузки маршрутов.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Интерактивность карты:</a:t>
            </a:r>
            <a:r>
              <a:rPr sz="1400" b="0">
                <a:solidFill>
                  <a:srgbClr val="F1F5F9"/>
                </a:solidFill>
                <a:latin typeface="Arial"/>
              </a:rPr>
              <a:t> Валидация кликабельности маркеров, всплывающих окон и подгрузки слоёв Leaflet.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Форма обратной связи:</a:t>
            </a:r>
            <a:r>
              <a:rPr sz="1400" b="0">
                <a:solidFill>
                  <a:srgbClr val="F1F5F9"/>
                </a:solidFill>
                <a:latin typeface="Arial"/>
              </a:rPr>
              <a:t> Тестирование отправки сообщений, валидации полей почты и имени.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Нефункциональное тестирование: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  • Адаптивность:</a:t>
            </a:r>
            <a:r>
              <a:rPr sz="1400" b="0">
                <a:solidFill>
                  <a:srgbClr val="F1F5F9"/>
                </a:solidFill>
                <a:latin typeface="Arial"/>
              </a:rPr>
              <a:t> Проверка верстки на смартфонах и планшетах (Android/iOS).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  • Кроссбраузерность:</a:t>
            </a:r>
            <a:r>
              <a:rPr sz="1400" b="0">
                <a:solidFill>
                  <a:srgbClr val="F1F5F9"/>
                </a:solidFill>
                <a:latin typeface="Arial"/>
              </a:rPr>
              <a:t> Тестирование в Chrome, Safari, Firefox и Edge.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  • Оптимизация скорости:</a:t>
            </a:r>
            <a:r>
              <a:rPr sz="1400" b="0">
                <a:solidFill>
                  <a:srgbClr val="F1F5F9"/>
                </a:solidFill>
                <a:latin typeface="Arial"/>
              </a:rPr>
              <a:t> Оценка Google Lighthouse (Performance, SEO &gt; 90).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463040"/>
            <a:ext cx="4846320" cy="4114800"/>
          </a:xfrm>
          <a:prstGeom prst="roundRect">
            <a:avLst/>
          </a:prstGeom>
          <a:solidFill>
            <a:srgbClr val="13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ounta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45720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Georgia"/>
              </a:defRPr>
            </a:pPr>
            <a:r>
              <a:t>Заключение и планы развития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Дипломный проект  |  Разработка гида Karakol Guide  |  Слайд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Итоги проекта:</a:t>
            </a:r>
            <a:r>
              <a:rPr sz="1400" b="0">
                <a:solidFill>
                  <a:srgbClr val="F1F5F9"/>
                </a:solidFill>
                <a:latin typeface="Arial"/>
              </a:rPr>
              <a:t> Разработан полностью функционирующий веб-ресурс «Karakol Guide» для самостоятельных путешественников.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Практическая значимость:</a:t>
            </a:r>
            <a:r>
              <a:rPr sz="1400" b="0">
                <a:solidFill>
                  <a:srgbClr val="F1F5F9"/>
                </a:solidFill>
                <a:latin typeface="Arial"/>
              </a:rPr>
              <a:t> Повышение туристической привлекательности Каракола, предоставление детальной интерактивной базы данных.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Планы развития: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  • Интеграция бронирования:</a:t>
            </a:r>
            <a:r>
              <a:rPr sz="1400" b="0">
                <a:solidFill>
                  <a:srgbClr val="F1F5F9"/>
                </a:solidFill>
                <a:latin typeface="Arial"/>
              </a:rPr>
              <a:t> Связь с локальными гостевыми домами и гидами.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  • PWA и офлайн-режим:</a:t>
            </a:r>
            <a:r>
              <a:rPr sz="1400" b="0">
                <a:solidFill>
                  <a:srgbClr val="F1F5F9"/>
                </a:solidFill>
                <a:latin typeface="Arial"/>
              </a:rPr>
              <a:t> Добавление поддержки GPS-треков в режиме офлайн.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  • Мобильное приложение:</a:t>
            </a:r>
            <a:r>
              <a:rPr sz="1400" b="0">
                <a:solidFill>
                  <a:srgbClr val="F1F5F9"/>
                </a:solidFill>
                <a:latin typeface="Arial"/>
              </a:rPr>
              <a:t> Разработка гида на базе кроссплатформенного React Native.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FBBF24"/>
                </a:solidFill>
                <a:latin typeface="Arial"/>
              </a:rPr>
              <a:t>  • Сообщество:</a:t>
            </a:r>
            <a:r>
              <a:rPr sz="1400" b="0">
                <a:solidFill>
                  <a:srgbClr val="F1F5F9"/>
                </a:solidFill>
                <a:latin typeface="Arial"/>
              </a:rPr>
              <a:t> Добавление пользовательских обзоров и системы рейтинга маршрутов.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Georgia"/>
              </a:defRPr>
            </a:pPr>
            <a:r>
              <a:t>СПАСИБО ЗА ВНИМАНИЕ! ГОТОВ ОТВЕТИТЬ НА ВАШИ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954</Words>
  <Application>Microsoft Office PowerPoint</Application>
  <PresentationFormat>Широкоэкранный</PresentationFormat>
  <Paragraphs>101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Adahan Baydolotov</cp:lastModifiedBy>
  <cp:revision>2</cp:revision>
  <dcterms:created xsi:type="dcterms:W3CDTF">2013-01-27T09:14:16Z</dcterms:created>
  <dcterms:modified xsi:type="dcterms:W3CDTF">2026-06-08T08:05:00Z</dcterms:modified>
  <cp:category/>
</cp:coreProperties>
</file>